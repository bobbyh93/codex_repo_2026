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3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
            <a:ext cx="8138160" cy="411480"/>
          </a:xfrm>
          <a:prstGeom prst="rect">
            <a:avLst/>
          </a:prstGeom>
          <a:noFill/>
        </p:spPr>
        <p:txBody>
          <a:bodyPr wrap="none">
            <a:spAutoFit/>
          </a:bodyPr>
          <a:lstStyle/>
          <a:p>
            <a:pPr algn="l"/>
            <a:r>
              <a:rPr sz="2600" b="1">
                <a:solidFill>
                  <a:srgbClr val="FFFFFF"/>
                </a:solidFill>
                <a:latin typeface="Aptos Display"/>
              </a:rPr>
              <a:t>Design public or employee health programs. overview</a:t>
            </a:r>
          </a:p>
        </p:txBody>
      </p:sp>
      <p:sp>
        <p:nvSpPr>
          <p:cNvPr id="4" name="TextBox 3"/>
          <p:cNvSpPr txBox="1"/>
          <p:nvPr/>
        </p:nvSpPr>
        <p:spPr>
          <a:xfrm>
            <a:off x="8686800" y="118872"/>
            <a:ext cx="2926080" cy="320040"/>
          </a:xfrm>
          <a:prstGeom prst="rect">
            <a:avLst/>
          </a:prstGeom>
          <a:noFill/>
        </p:spPr>
        <p:txBody>
          <a:bodyPr wrap="none">
            <a:spAutoFit/>
          </a:bodyPr>
          <a:lstStyle/>
          <a:p>
            <a:pPr algn="r"/>
            <a:r>
              <a:rPr sz="1100" b="0">
                <a:solidFill>
                  <a:srgbClr val="DBEAFE"/>
                </a:solidFill>
                <a:latin typeface="Aptos"/>
              </a:rPr>
              <a:t>Nursing • Professional Practice • Design public or employee health programs.</a:t>
            </a:r>
          </a:p>
        </p:txBody>
      </p:sp>
      <p:sp>
        <p:nvSpPr>
          <p:cNvPr id="5" name="TextBox 4"/>
          <p:cNvSpPr txBox="1"/>
          <p:nvPr/>
        </p:nvSpPr>
        <p:spPr>
          <a:xfrm>
            <a:off x="11384280" y="6355080"/>
            <a:ext cx="411480" cy="201168"/>
          </a:xfrm>
          <a:prstGeom prst="rect">
            <a:avLst/>
          </a:prstGeom>
          <a:noFill/>
        </p:spPr>
        <p:txBody>
          <a:bodyPr wrap="none">
            <a:spAutoFit/>
          </a:bodyPr>
          <a:lstStyle/>
          <a:p>
            <a:pPr algn="r"/>
            <a:r>
              <a:rPr sz="1000" b="1">
                <a:solidFill>
                  <a:srgbClr val="475569"/>
                </a:solidFill>
                <a:latin typeface="Aptos"/>
              </a:rPr>
              <a:t>1</a:t>
            </a:r>
          </a:p>
        </p:txBody>
      </p:sp>
      <p:sp>
        <p:nvSpPr>
          <p:cNvPr id="6" name="Rounded Rectangle 5"/>
          <p:cNvSpPr/>
          <p:nvPr/>
        </p:nvSpPr>
        <p:spPr>
          <a:xfrm>
            <a:off x="411480" y="960120"/>
            <a:ext cx="3840480" cy="4983480"/>
          </a:xfrm>
          <a:prstGeom prst="roundRect">
            <a:avLst/>
          </a:prstGeom>
          <a:solidFill>
            <a:srgbClr val="F1F5F9"/>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1161288"/>
            <a:ext cx="3438144" cy="4572000"/>
          </a:xfrm>
          <a:prstGeom prst="rect">
            <a:avLst/>
          </a:prstGeom>
          <a:noFill/>
        </p:spPr>
        <p:txBody>
          <a:bodyPr wrap="none">
            <a:spAutoFit/>
          </a:bodyPr>
          <a:lstStyle/>
          <a:p>
            <a:r>
              <a:rPr sz="1500" b="1">
                <a:solidFill>
                  <a:srgbClr val="2563EB"/>
                </a:solidFill>
                <a:latin typeface="Aptos"/>
              </a:rPr>
              <a:t>Explain the scope and priority focus for Design public or employee health programs..</a:t>
            </a:r>
          </a:p>
          <a:p>
            <a:pPr>
              <a:spcBef>
                <a:spcPts val="1200"/>
              </a:spcBef>
            </a:pPr>
            <a:r>
              <a:rPr sz="2000" b="0">
                <a:solidFill>
                  <a:srgbClr val="111827"/>
                </a:solidFill>
                <a:latin typeface="Aptos"/>
              </a:rPr>
              <a:t>Orient the learner to the lesson sequence and the highest-priority thinking for Design public or employee health programs..</a:t>
            </a:r>
          </a:p>
          <a:p>
            <a:pPr>
              <a:spcBef>
                <a:spcPts val="1800"/>
              </a:spcBef>
            </a:pPr>
            <a:r>
              <a:rPr sz="1200" b="0">
                <a:solidFill>
                  <a:srgbClr val="475569"/>
                </a:solidFill>
                <a:latin typeface="Aptos"/>
              </a:rPr>
              <a:t>Use the right panel as the learner-facing summary. Keep narration in the script, not on the slide.</a:t>
            </a:r>
          </a:p>
        </p:txBody>
      </p:sp>
      <p:sp>
        <p:nvSpPr>
          <p:cNvPr id="8" name="Rounded Rectangle 7"/>
          <p:cNvSpPr/>
          <p:nvPr/>
        </p:nvSpPr>
        <p:spPr>
          <a:xfrm>
            <a:off x="4480560" y="960120"/>
            <a:ext cx="7299655" cy="4983480"/>
          </a:xfrm>
          <a:prstGeom prst="roundRect">
            <a:avLst/>
          </a:prstGeom>
          <a:solidFill>
            <a:srgbClr val="FFFFFF"/>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45152" y="1124712"/>
            <a:ext cx="6970471" cy="4727448"/>
          </a:xfrm>
          <a:prstGeom prst="rect">
            <a:avLst/>
          </a:prstGeom>
          <a:noFill/>
        </p:spPr>
        <p:txBody>
          <a:bodyPr wrap="square">
            <a:spAutoFit/>
          </a:bodyPr>
          <a:lstStyle/>
          <a:p>
            <a:r>
              <a:rPr sz="1300" b="1">
                <a:solidFill>
                  <a:srgbClr val="2563EB"/>
                </a:solidFill>
                <a:latin typeface="Aptos"/>
              </a:rPr>
              <a:t>Key points</a:t>
            </a:r>
          </a:p>
          <a:p>
            <a:pPr>
              <a:spcAft>
                <a:spcPts val="600"/>
              </a:spcAft>
            </a:pPr>
            <a:r>
              <a:rPr sz="2000" b="0">
                <a:solidFill>
                  <a:srgbClr val="111827"/>
                </a:solidFill>
                <a:latin typeface="Aptos"/>
              </a:rPr>
              <a:t>Instruct individuals - families - or other groups on topics such as health education - di…</a:t>
            </a:r>
          </a:p>
          <a:p>
            <a:pPr>
              <a:spcAft>
                <a:spcPts val="600"/>
              </a:spcAft>
            </a:pPr>
            <a:r>
              <a:rPr sz="2000" b="0">
                <a:solidFill>
                  <a:srgbClr val="111827"/>
                </a:solidFill>
                <a:latin typeface="Aptos"/>
              </a:rPr>
              <a:t>includes a recognition phase, a priority decision phase, and an evaluation phase.</a:t>
            </a:r>
          </a:p>
          <a:p>
            <a:pPr>
              <a:spcAft>
                <a:spcPts val="600"/>
              </a:spcAft>
            </a:pPr>
            <a:r>
              <a:rPr sz="2000" b="0">
                <a:solidFill>
                  <a:srgbClr val="111827"/>
                </a:solidFill>
                <a:latin typeface="Aptos"/>
              </a:rPr>
              <a:t>The first safe action should be linked to the highest-risk cue pattern in Instruct indivi…</a:t>
            </a:r>
          </a:p>
          <a:p>
            <a:pPr>
              <a:spcAft>
                <a:spcPts val="600"/>
              </a:spcAft>
            </a:pPr>
            <a:r>
              <a:rPr sz="2000" b="0">
                <a:solidFill>
                  <a:srgbClr val="111827"/>
                </a:solidFill>
                <a:latin typeface="Aptos"/>
              </a:rPr>
              <a:t>Lesson scope includes: Instruct individuals - families - or other groups on topics such 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3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
            <a:ext cx="8138160" cy="411480"/>
          </a:xfrm>
          <a:prstGeom prst="rect">
            <a:avLst/>
          </a:prstGeom>
          <a:noFill/>
        </p:spPr>
        <p:txBody>
          <a:bodyPr wrap="none">
            <a:spAutoFit/>
          </a:bodyPr>
          <a:lstStyle/>
          <a:p>
            <a:pPr algn="l"/>
            <a:r>
              <a:rPr sz="2600" b="1">
                <a:solidFill>
                  <a:srgbClr val="FFFFFF"/>
                </a:solidFill>
                <a:latin typeface="Aptos Display"/>
              </a:rPr>
              <a:t>Instruct individuals - families - or other groups on topics such as health education - disease prevention - or childbirth and develop health improvement programs.</a:t>
            </a:r>
          </a:p>
        </p:txBody>
      </p:sp>
      <p:sp>
        <p:nvSpPr>
          <p:cNvPr id="4" name="TextBox 3"/>
          <p:cNvSpPr txBox="1"/>
          <p:nvPr/>
        </p:nvSpPr>
        <p:spPr>
          <a:xfrm>
            <a:off x="8686800" y="118872"/>
            <a:ext cx="2926080" cy="320040"/>
          </a:xfrm>
          <a:prstGeom prst="rect">
            <a:avLst/>
          </a:prstGeom>
          <a:noFill/>
        </p:spPr>
        <p:txBody>
          <a:bodyPr wrap="none">
            <a:spAutoFit/>
          </a:bodyPr>
          <a:lstStyle/>
          <a:p>
            <a:pPr algn="r"/>
            <a:r>
              <a:rPr sz="1100" b="0">
                <a:solidFill>
                  <a:srgbClr val="DBEAFE"/>
                </a:solidFill>
                <a:latin typeface="Aptos"/>
              </a:rPr>
              <a:t>Nursing • Professional Practice • Design public or employee health programs.</a:t>
            </a:r>
          </a:p>
        </p:txBody>
      </p:sp>
      <p:sp>
        <p:nvSpPr>
          <p:cNvPr id="5" name="TextBox 4"/>
          <p:cNvSpPr txBox="1"/>
          <p:nvPr/>
        </p:nvSpPr>
        <p:spPr>
          <a:xfrm>
            <a:off x="11384280" y="6355080"/>
            <a:ext cx="411480" cy="201168"/>
          </a:xfrm>
          <a:prstGeom prst="rect">
            <a:avLst/>
          </a:prstGeom>
          <a:noFill/>
        </p:spPr>
        <p:txBody>
          <a:bodyPr wrap="none">
            <a:spAutoFit/>
          </a:bodyPr>
          <a:lstStyle/>
          <a:p>
            <a:pPr algn="r"/>
            <a:r>
              <a:rPr sz="1000" b="1">
                <a:solidFill>
                  <a:srgbClr val="475569"/>
                </a:solidFill>
                <a:latin typeface="Aptos"/>
              </a:rPr>
              <a:t>2</a:t>
            </a:r>
          </a:p>
        </p:txBody>
      </p:sp>
      <p:sp>
        <p:nvSpPr>
          <p:cNvPr id="6" name="Rounded Rectangle 5"/>
          <p:cNvSpPr/>
          <p:nvPr/>
        </p:nvSpPr>
        <p:spPr>
          <a:xfrm>
            <a:off x="411480" y="960120"/>
            <a:ext cx="5577840" cy="4983480"/>
          </a:xfrm>
          <a:prstGeom prst="roundRect">
            <a:avLst/>
          </a:prstGeom>
          <a:solidFill>
            <a:srgbClr val="FFFFFF"/>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45352" y="960120"/>
            <a:ext cx="5534863" cy="4983480"/>
          </a:xfrm>
          <a:prstGeom prst="roundRect">
            <a:avLst/>
          </a:prstGeom>
          <a:solidFill>
            <a:srgbClr val="FFFFFF"/>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69fb89b8a05211de253e4c89a7f0e9ffa7eec39c661088f4b87b851e9ee11e92.png"/>
          <p:cNvPicPr>
            <a:picLocks noChangeAspect="1"/>
          </p:cNvPicPr>
          <p:nvPr/>
        </p:nvPicPr>
        <p:blipFill>
          <a:blip r:embed="rId2"/>
          <a:stretch>
            <a:fillRect/>
          </a:stretch>
        </p:blipFill>
        <p:spPr>
          <a:xfrm>
            <a:off x="539496" y="1749361"/>
            <a:ext cx="5321808" cy="2993517"/>
          </a:xfrm>
          <a:prstGeom prst="rect">
            <a:avLst/>
          </a:prstGeom>
        </p:spPr>
      </p:pic>
      <p:sp>
        <p:nvSpPr>
          <p:cNvPr id="9" name="TextBox 8"/>
          <p:cNvSpPr txBox="1"/>
          <p:nvPr/>
        </p:nvSpPr>
        <p:spPr>
          <a:xfrm>
            <a:off x="576072" y="5486400"/>
            <a:ext cx="5248656" cy="219456"/>
          </a:xfrm>
          <a:prstGeom prst="rect">
            <a:avLst/>
          </a:prstGeom>
          <a:noFill/>
        </p:spPr>
        <p:txBody>
          <a:bodyPr wrap="none">
            <a:spAutoFit/>
          </a:bodyPr>
          <a:lstStyle/>
          <a:p>
            <a:pPr algn="ctr"/>
            <a:r>
              <a:rPr sz="1100" b="0">
                <a:solidFill>
                  <a:srgbClr val="475569"/>
                </a:solidFill>
                <a:latin typeface="Aptos"/>
              </a:rPr>
              <a:t>Instruct individuals - families - or other groups on topics such as health education - disease prevention - or childbirth and develop health improvement programs.</a:t>
            </a:r>
          </a:p>
        </p:txBody>
      </p:sp>
      <p:sp>
        <p:nvSpPr>
          <p:cNvPr id="10" name="Rounded Rectangle 9"/>
          <p:cNvSpPr/>
          <p:nvPr/>
        </p:nvSpPr>
        <p:spPr>
          <a:xfrm>
            <a:off x="6245352" y="960120"/>
            <a:ext cx="5534863" cy="4983480"/>
          </a:xfrm>
          <a:prstGeom prst="roundRect">
            <a:avLst/>
          </a:prstGeom>
          <a:solidFill>
            <a:srgbClr val="FFFFFF"/>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1124712"/>
            <a:ext cx="5205679" cy="4727448"/>
          </a:xfrm>
          <a:prstGeom prst="rect">
            <a:avLst/>
          </a:prstGeom>
          <a:noFill/>
        </p:spPr>
        <p:txBody>
          <a:bodyPr wrap="square">
            <a:spAutoFit/>
          </a:bodyPr>
          <a:lstStyle/>
          <a:p>
            <a:r>
              <a:rPr sz="1300" b="1">
                <a:solidFill>
                  <a:srgbClr val="2563EB"/>
                </a:solidFill>
                <a:latin typeface="Aptos"/>
              </a:rPr>
              <a:t>Learner summary</a:t>
            </a:r>
          </a:p>
          <a:p>
            <a:pPr>
              <a:spcAft>
                <a:spcPts val="600"/>
              </a:spcAft>
            </a:pPr>
            <a:r>
              <a:rPr sz="1900" b="0">
                <a:solidFill>
                  <a:srgbClr val="111827"/>
                </a:solidFill>
                <a:latin typeface="Aptos"/>
              </a:rPr>
              <a:t>Instruct individuals - families - or other groups on topics such as health education - di…</a:t>
            </a:r>
          </a:p>
          <a:p>
            <a:pPr>
              <a:spcAft>
                <a:spcPts val="600"/>
              </a:spcAft>
            </a:pPr>
            <a:r>
              <a:rPr sz="1900" b="0">
                <a:solidFill>
                  <a:srgbClr val="111827"/>
                </a:solidFill>
                <a:latin typeface="Aptos"/>
              </a:rPr>
              <a:t>includes a recognition phase, a priority decision phase, and an evaluation phase.</a:t>
            </a:r>
          </a:p>
          <a:p>
            <a:pPr>
              <a:spcAft>
                <a:spcPts val="600"/>
              </a:spcAft>
            </a:pPr>
            <a:r>
              <a:rPr sz="1900" b="0">
                <a:solidFill>
                  <a:srgbClr val="111827"/>
                </a:solidFill>
                <a:latin typeface="Aptos"/>
              </a:rPr>
              <a:t>The first safe action should be linked to the highest-risk cue pattern in Instruct indivi…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3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
            <a:ext cx="8138160" cy="411480"/>
          </a:xfrm>
          <a:prstGeom prst="rect">
            <a:avLst/>
          </a:prstGeom>
          <a:noFill/>
        </p:spPr>
        <p:txBody>
          <a:bodyPr wrap="none">
            <a:spAutoFit/>
          </a:bodyPr>
          <a:lstStyle/>
          <a:p>
            <a:pPr algn="l"/>
            <a:r>
              <a:rPr sz="2600" b="1">
                <a:solidFill>
                  <a:srgbClr val="FFFFFF"/>
                </a:solidFill>
                <a:latin typeface="Aptos Display"/>
              </a:rPr>
              <a:t>Clinical judgment case: Instruct individuals - families - or other groups on topics such as health education - disease prevention - or childbirth and develop health improvement programs.</a:t>
            </a:r>
          </a:p>
        </p:txBody>
      </p:sp>
      <p:sp>
        <p:nvSpPr>
          <p:cNvPr id="4" name="TextBox 3"/>
          <p:cNvSpPr txBox="1"/>
          <p:nvPr/>
        </p:nvSpPr>
        <p:spPr>
          <a:xfrm>
            <a:off x="8686800" y="118872"/>
            <a:ext cx="2926080" cy="320040"/>
          </a:xfrm>
          <a:prstGeom prst="rect">
            <a:avLst/>
          </a:prstGeom>
          <a:noFill/>
        </p:spPr>
        <p:txBody>
          <a:bodyPr wrap="none">
            <a:spAutoFit/>
          </a:bodyPr>
          <a:lstStyle/>
          <a:p>
            <a:pPr algn="r"/>
            <a:r>
              <a:rPr sz="1100" b="0">
                <a:solidFill>
                  <a:srgbClr val="DBEAFE"/>
                </a:solidFill>
                <a:latin typeface="Aptos"/>
              </a:rPr>
              <a:t>Nursing • Professional Practice • Design public or employee health programs.</a:t>
            </a:r>
          </a:p>
        </p:txBody>
      </p:sp>
      <p:sp>
        <p:nvSpPr>
          <p:cNvPr id="5" name="TextBox 4"/>
          <p:cNvSpPr txBox="1"/>
          <p:nvPr/>
        </p:nvSpPr>
        <p:spPr>
          <a:xfrm>
            <a:off x="11384280" y="6355080"/>
            <a:ext cx="411480" cy="201168"/>
          </a:xfrm>
          <a:prstGeom prst="rect">
            <a:avLst/>
          </a:prstGeom>
          <a:noFill/>
        </p:spPr>
        <p:txBody>
          <a:bodyPr wrap="none">
            <a:spAutoFit/>
          </a:bodyPr>
          <a:lstStyle/>
          <a:p>
            <a:pPr algn="r"/>
            <a:r>
              <a:rPr sz="1000" b="1">
                <a:solidFill>
                  <a:srgbClr val="475569"/>
                </a:solidFill>
                <a:latin typeface="Aptos"/>
              </a:rPr>
              <a:t>3</a:t>
            </a:r>
          </a:p>
        </p:txBody>
      </p:sp>
      <p:sp>
        <p:nvSpPr>
          <p:cNvPr id="6" name="Rounded Rectangle 5"/>
          <p:cNvSpPr/>
          <p:nvPr/>
        </p:nvSpPr>
        <p:spPr>
          <a:xfrm>
            <a:off x="411480" y="960120"/>
            <a:ext cx="6583680" cy="4983480"/>
          </a:xfrm>
          <a:prstGeom prst="roundRect">
            <a:avLst/>
          </a:prstGeom>
          <a:solidFill>
            <a:srgbClr val="FFFFFF"/>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223760" y="960120"/>
            <a:ext cx="4556455" cy="4983480"/>
          </a:xfrm>
          <a:prstGeom prst="roundRect">
            <a:avLst/>
          </a:prstGeom>
          <a:solidFill>
            <a:srgbClr val="F1F5F9"/>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143000"/>
            <a:ext cx="6217920" cy="4572000"/>
          </a:xfrm>
          <a:prstGeom prst="rect">
            <a:avLst/>
          </a:prstGeom>
          <a:noFill/>
        </p:spPr>
        <p:txBody>
          <a:bodyPr wrap="none">
            <a:spAutoFit/>
          </a:bodyPr>
          <a:lstStyle/>
          <a:p>
            <a:r>
              <a:rPr sz="1400" b="1">
                <a:solidFill>
                  <a:srgbClr val="2563EB"/>
                </a:solidFill>
                <a:latin typeface="Aptos"/>
              </a:rPr>
              <a:t>Practice scenario</a:t>
            </a:r>
          </a:p>
          <a:p>
            <a:pPr>
              <a:spcBef>
                <a:spcPts val="800"/>
              </a:spcBef>
            </a:pPr>
            <a:r>
              <a:rPr sz="1900" b="0">
                <a:solidFill>
                  <a:srgbClr val="111827"/>
                </a:solidFill>
                <a:latin typeface="Aptos"/>
              </a:rPr>
              <a:t>A learner reviews a scenario related to Instruct individuals - families - or other groups on topics such as health education - disease prevention - or childbirth and develop health improvement programs. within Design public or employee health programs.. Use the cue set to identify the first safe action and the expected response.</a:t>
            </a:r>
          </a:p>
          <a:p>
            <a:pPr>
              <a:spcBef>
                <a:spcPts val="1400"/>
              </a:spcBef>
            </a:pPr>
            <a:r>
              <a:rPr sz="1500" b="1">
                <a:solidFill>
                  <a:srgbClr val="059669"/>
                </a:solidFill>
                <a:latin typeface="Aptos"/>
              </a:rPr>
              <a:t>Which action should occur first, and what outcome would show improvement?</a:t>
            </a:r>
          </a:p>
        </p:txBody>
      </p:sp>
      <p:sp>
        <p:nvSpPr>
          <p:cNvPr id="9" name="Rounded Rectangle 8"/>
          <p:cNvSpPr/>
          <p:nvPr/>
        </p:nvSpPr>
        <p:spPr>
          <a:xfrm>
            <a:off x="7223760" y="960120"/>
            <a:ext cx="4556455" cy="4983480"/>
          </a:xfrm>
          <a:prstGeom prst="roundRect">
            <a:avLst/>
          </a:prstGeom>
          <a:solidFill>
            <a:srgbClr val="FFFFFF"/>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88352" y="1124712"/>
            <a:ext cx="4227271" cy="4727448"/>
          </a:xfrm>
          <a:prstGeom prst="rect">
            <a:avLst/>
          </a:prstGeom>
          <a:noFill/>
        </p:spPr>
        <p:txBody>
          <a:bodyPr wrap="square">
            <a:spAutoFit/>
          </a:bodyPr>
          <a:lstStyle/>
          <a:p>
            <a:r>
              <a:rPr sz="1300" b="1">
                <a:solidFill>
                  <a:srgbClr val="2563EB"/>
                </a:solidFill>
                <a:latin typeface="Aptos"/>
              </a:rPr>
              <a:t>Decision cues</a:t>
            </a:r>
          </a:p>
          <a:p>
            <a:pPr>
              <a:spcAft>
                <a:spcPts val="600"/>
              </a:spcAft>
            </a:pPr>
            <a:r>
              <a:rPr sz="1800" b="0">
                <a:solidFill>
                  <a:srgbClr val="111827"/>
                </a:solidFill>
                <a:latin typeface="Aptos"/>
              </a:rPr>
              <a:t>Instruct individuals - families - or other groups on topics such as health education - di…</a:t>
            </a:r>
          </a:p>
          <a:p>
            <a:pPr>
              <a:spcAft>
                <a:spcPts val="600"/>
              </a:spcAft>
            </a:pPr>
            <a:r>
              <a:rPr sz="1800" b="0">
                <a:solidFill>
                  <a:srgbClr val="111827"/>
                </a:solidFill>
                <a:latin typeface="Aptos"/>
              </a:rPr>
              <a:t>includes a recognition phase, a priority decision phase, and an evaluation phase.</a:t>
            </a:r>
          </a:p>
          <a:p>
            <a:pPr>
              <a:spcAft>
                <a:spcPts val="600"/>
              </a:spcAft>
            </a:pPr>
            <a:r>
              <a:rPr sz="1800" b="0">
                <a:solidFill>
                  <a:srgbClr val="111827"/>
                </a:solidFill>
                <a:latin typeface="Aptos"/>
              </a:rPr>
              <a:t>The first safe action should be linked to the highest-risk cue pattern in Instruct indivi…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3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
            <a:ext cx="8138160" cy="411480"/>
          </a:xfrm>
          <a:prstGeom prst="rect">
            <a:avLst/>
          </a:prstGeom>
          <a:noFill/>
        </p:spPr>
        <p:txBody>
          <a:bodyPr wrap="none">
            <a:spAutoFit/>
          </a:bodyPr>
          <a:lstStyle/>
          <a:p>
            <a:pPr algn="l"/>
            <a:r>
              <a:rPr sz="2600" b="1">
                <a:solidFill>
                  <a:srgbClr val="FFFFFF"/>
                </a:solidFill>
                <a:latin typeface="Aptos Display"/>
              </a:rPr>
              <a:t>Work with individuals - groups - or families to plan or implement programs designed to improve the overall health of communities.</a:t>
            </a:r>
          </a:p>
        </p:txBody>
      </p:sp>
      <p:sp>
        <p:nvSpPr>
          <p:cNvPr id="4" name="TextBox 3"/>
          <p:cNvSpPr txBox="1"/>
          <p:nvPr/>
        </p:nvSpPr>
        <p:spPr>
          <a:xfrm>
            <a:off x="8686800" y="118872"/>
            <a:ext cx="2926080" cy="320040"/>
          </a:xfrm>
          <a:prstGeom prst="rect">
            <a:avLst/>
          </a:prstGeom>
          <a:noFill/>
        </p:spPr>
        <p:txBody>
          <a:bodyPr wrap="none">
            <a:spAutoFit/>
          </a:bodyPr>
          <a:lstStyle/>
          <a:p>
            <a:pPr algn="r"/>
            <a:r>
              <a:rPr sz="1100" b="0">
                <a:solidFill>
                  <a:srgbClr val="DBEAFE"/>
                </a:solidFill>
                <a:latin typeface="Aptos"/>
              </a:rPr>
              <a:t>Nursing • Professional Practice • Design public or employee health programs.</a:t>
            </a:r>
          </a:p>
        </p:txBody>
      </p:sp>
      <p:sp>
        <p:nvSpPr>
          <p:cNvPr id="5" name="TextBox 4"/>
          <p:cNvSpPr txBox="1"/>
          <p:nvPr/>
        </p:nvSpPr>
        <p:spPr>
          <a:xfrm>
            <a:off x="11384280" y="6355080"/>
            <a:ext cx="411480" cy="201168"/>
          </a:xfrm>
          <a:prstGeom prst="rect">
            <a:avLst/>
          </a:prstGeom>
          <a:noFill/>
        </p:spPr>
        <p:txBody>
          <a:bodyPr wrap="none">
            <a:spAutoFit/>
          </a:bodyPr>
          <a:lstStyle/>
          <a:p>
            <a:pPr algn="r"/>
            <a:r>
              <a:rPr sz="1000" b="1">
                <a:solidFill>
                  <a:srgbClr val="475569"/>
                </a:solidFill>
                <a:latin typeface="Aptos"/>
              </a:rPr>
              <a:t>4</a:t>
            </a:r>
          </a:p>
        </p:txBody>
      </p:sp>
      <p:sp>
        <p:nvSpPr>
          <p:cNvPr id="6" name="Rounded Rectangle 5"/>
          <p:cNvSpPr/>
          <p:nvPr/>
        </p:nvSpPr>
        <p:spPr>
          <a:xfrm>
            <a:off x="411480" y="960120"/>
            <a:ext cx="5577840" cy="4983480"/>
          </a:xfrm>
          <a:prstGeom prst="roundRect">
            <a:avLst/>
          </a:prstGeom>
          <a:solidFill>
            <a:srgbClr val="FFFFFF"/>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45352" y="960120"/>
            <a:ext cx="5534863" cy="4983480"/>
          </a:xfrm>
          <a:prstGeom prst="roundRect">
            <a:avLst/>
          </a:prstGeom>
          <a:solidFill>
            <a:srgbClr val="FFFFFF"/>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3d22a83c0886a90f84ec05551ce48240d2a44004644673f3da753725646079e.png"/>
          <p:cNvPicPr>
            <a:picLocks noChangeAspect="1"/>
          </p:cNvPicPr>
          <p:nvPr/>
        </p:nvPicPr>
        <p:blipFill>
          <a:blip r:embed="rId2"/>
          <a:stretch>
            <a:fillRect/>
          </a:stretch>
        </p:blipFill>
        <p:spPr>
          <a:xfrm>
            <a:off x="539496" y="1749361"/>
            <a:ext cx="5321808" cy="2993517"/>
          </a:xfrm>
          <a:prstGeom prst="rect">
            <a:avLst/>
          </a:prstGeom>
        </p:spPr>
      </p:pic>
      <p:sp>
        <p:nvSpPr>
          <p:cNvPr id="9" name="TextBox 8"/>
          <p:cNvSpPr txBox="1"/>
          <p:nvPr/>
        </p:nvSpPr>
        <p:spPr>
          <a:xfrm>
            <a:off x="576072" y="5486400"/>
            <a:ext cx="5248656" cy="219456"/>
          </a:xfrm>
          <a:prstGeom prst="rect">
            <a:avLst/>
          </a:prstGeom>
          <a:noFill/>
        </p:spPr>
        <p:txBody>
          <a:bodyPr wrap="none">
            <a:spAutoFit/>
          </a:bodyPr>
          <a:lstStyle/>
          <a:p>
            <a:pPr algn="ctr"/>
            <a:r>
              <a:rPr sz="1100" b="0">
                <a:solidFill>
                  <a:srgbClr val="475569"/>
                </a:solidFill>
                <a:latin typeface="Aptos"/>
              </a:rPr>
              <a:t>Work with individuals - groups - or families to plan or implement programs designed to improve the overall health of communities.</a:t>
            </a:r>
          </a:p>
        </p:txBody>
      </p:sp>
      <p:sp>
        <p:nvSpPr>
          <p:cNvPr id="10" name="Rounded Rectangle 9"/>
          <p:cNvSpPr/>
          <p:nvPr/>
        </p:nvSpPr>
        <p:spPr>
          <a:xfrm>
            <a:off x="6245352" y="960120"/>
            <a:ext cx="5534863" cy="4983480"/>
          </a:xfrm>
          <a:prstGeom prst="roundRect">
            <a:avLst/>
          </a:prstGeom>
          <a:solidFill>
            <a:srgbClr val="FFFFFF"/>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1124712"/>
            <a:ext cx="5205679" cy="4727448"/>
          </a:xfrm>
          <a:prstGeom prst="rect">
            <a:avLst/>
          </a:prstGeom>
          <a:noFill/>
        </p:spPr>
        <p:txBody>
          <a:bodyPr wrap="square">
            <a:spAutoFit/>
          </a:bodyPr>
          <a:lstStyle/>
          <a:p>
            <a:r>
              <a:rPr sz="1300" b="1">
                <a:solidFill>
                  <a:srgbClr val="2563EB"/>
                </a:solidFill>
                <a:latin typeface="Aptos"/>
              </a:rPr>
              <a:t>Learner summary</a:t>
            </a:r>
          </a:p>
          <a:p>
            <a:pPr>
              <a:spcAft>
                <a:spcPts val="600"/>
              </a:spcAft>
            </a:pPr>
            <a:r>
              <a:rPr sz="1900" b="0">
                <a:solidFill>
                  <a:srgbClr val="111827"/>
                </a:solidFill>
                <a:latin typeface="Aptos"/>
              </a:rPr>
              <a:t>Work with individuals - groups - or families to plan or implement programs designed to im…</a:t>
            </a:r>
          </a:p>
          <a:p>
            <a:pPr>
              <a:spcAft>
                <a:spcPts val="600"/>
              </a:spcAft>
            </a:pPr>
            <a:r>
              <a:rPr sz="1900" b="0">
                <a:solidFill>
                  <a:srgbClr val="111827"/>
                </a:solidFill>
                <a:latin typeface="Aptos"/>
              </a:rPr>
              <a:t>includes a recognition phase, a priority decision phase, and an evaluation phase.</a:t>
            </a:r>
          </a:p>
          <a:p>
            <a:pPr>
              <a:spcAft>
                <a:spcPts val="600"/>
              </a:spcAft>
            </a:pPr>
            <a:r>
              <a:rPr sz="1900" b="0">
                <a:solidFill>
                  <a:srgbClr val="111827"/>
                </a:solidFill>
                <a:latin typeface="Aptos"/>
              </a:rPr>
              <a:t>The first safe action should be linked to the highest-risk cue pattern in Work with indiv…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3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
            <a:ext cx="8138160" cy="411480"/>
          </a:xfrm>
          <a:prstGeom prst="rect">
            <a:avLst/>
          </a:prstGeom>
          <a:noFill/>
        </p:spPr>
        <p:txBody>
          <a:bodyPr wrap="none">
            <a:spAutoFit/>
          </a:bodyPr>
          <a:lstStyle/>
          <a:p>
            <a:pPr algn="l"/>
            <a:r>
              <a:rPr sz="2600" b="1">
                <a:solidFill>
                  <a:srgbClr val="FFFFFF"/>
                </a:solidFill>
                <a:latin typeface="Aptos Display"/>
              </a:rPr>
              <a:t>Clinical judgment case: Work with individuals - groups - or families to plan or implement programs designed to improve the overall health of communities.</a:t>
            </a:r>
          </a:p>
        </p:txBody>
      </p:sp>
      <p:sp>
        <p:nvSpPr>
          <p:cNvPr id="4" name="TextBox 3"/>
          <p:cNvSpPr txBox="1"/>
          <p:nvPr/>
        </p:nvSpPr>
        <p:spPr>
          <a:xfrm>
            <a:off x="8686800" y="118872"/>
            <a:ext cx="2926080" cy="320040"/>
          </a:xfrm>
          <a:prstGeom prst="rect">
            <a:avLst/>
          </a:prstGeom>
          <a:noFill/>
        </p:spPr>
        <p:txBody>
          <a:bodyPr wrap="none">
            <a:spAutoFit/>
          </a:bodyPr>
          <a:lstStyle/>
          <a:p>
            <a:pPr algn="r"/>
            <a:r>
              <a:rPr sz="1100" b="0">
                <a:solidFill>
                  <a:srgbClr val="DBEAFE"/>
                </a:solidFill>
                <a:latin typeface="Aptos"/>
              </a:rPr>
              <a:t>Nursing • Professional Practice • Design public or employee health programs.</a:t>
            </a:r>
          </a:p>
        </p:txBody>
      </p:sp>
      <p:sp>
        <p:nvSpPr>
          <p:cNvPr id="5" name="TextBox 4"/>
          <p:cNvSpPr txBox="1"/>
          <p:nvPr/>
        </p:nvSpPr>
        <p:spPr>
          <a:xfrm>
            <a:off x="11384280" y="6355080"/>
            <a:ext cx="411480" cy="201168"/>
          </a:xfrm>
          <a:prstGeom prst="rect">
            <a:avLst/>
          </a:prstGeom>
          <a:noFill/>
        </p:spPr>
        <p:txBody>
          <a:bodyPr wrap="none">
            <a:spAutoFit/>
          </a:bodyPr>
          <a:lstStyle/>
          <a:p>
            <a:pPr algn="r"/>
            <a:r>
              <a:rPr sz="1000" b="1">
                <a:solidFill>
                  <a:srgbClr val="475569"/>
                </a:solidFill>
                <a:latin typeface="Aptos"/>
              </a:rPr>
              <a:t>5</a:t>
            </a:r>
          </a:p>
        </p:txBody>
      </p:sp>
      <p:sp>
        <p:nvSpPr>
          <p:cNvPr id="6" name="Rounded Rectangle 5"/>
          <p:cNvSpPr/>
          <p:nvPr/>
        </p:nvSpPr>
        <p:spPr>
          <a:xfrm>
            <a:off x="411480" y="960120"/>
            <a:ext cx="6583680" cy="4983480"/>
          </a:xfrm>
          <a:prstGeom prst="roundRect">
            <a:avLst/>
          </a:prstGeom>
          <a:solidFill>
            <a:srgbClr val="FFFFFF"/>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223760" y="960120"/>
            <a:ext cx="4556455" cy="4983480"/>
          </a:xfrm>
          <a:prstGeom prst="roundRect">
            <a:avLst/>
          </a:prstGeom>
          <a:solidFill>
            <a:srgbClr val="F1F5F9"/>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143000"/>
            <a:ext cx="6217920" cy="4572000"/>
          </a:xfrm>
          <a:prstGeom prst="rect">
            <a:avLst/>
          </a:prstGeom>
          <a:noFill/>
        </p:spPr>
        <p:txBody>
          <a:bodyPr wrap="none">
            <a:spAutoFit/>
          </a:bodyPr>
          <a:lstStyle/>
          <a:p>
            <a:r>
              <a:rPr sz="1400" b="1">
                <a:solidFill>
                  <a:srgbClr val="2563EB"/>
                </a:solidFill>
                <a:latin typeface="Aptos"/>
              </a:rPr>
              <a:t>Practice scenario</a:t>
            </a:r>
          </a:p>
          <a:p>
            <a:pPr>
              <a:spcBef>
                <a:spcPts val="800"/>
              </a:spcBef>
            </a:pPr>
            <a:r>
              <a:rPr sz="1900" b="0">
                <a:solidFill>
                  <a:srgbClr val="111827"/>
                </a:solidFill>
                <a:latin typeface="Aptos"/>
              </a:rPr>
              <a:t>A learner reviews a scenario related to Work with individuals - groups - or families to plan or implement programs designed to improve the overall health of communities. within Design public or employee health programs.. Use the cue set to identify the first safe action and the expected response.</a:t>
            </a:r>
          </a:p>
          <a:p>
            <a:pPr>
              <a:spcBef>
                <a:spcPts val="1400"/>
              </a:spcBef>
            </a:pPr>
            <a:r>
              <a:rPr sz="1500" b="1">
                <a:solidFill>
                  <a:srgbClr val="059669"/>
                </a:solidFill>
                <a:latin typeface="Aptos"/>
              </a:rPr>
              <a:t>Which action should occur first, and what outcome would show improvement?</a:t>
            </a:r>
          </a:p>
        </p:txBody>
      </p:sp>
      <p:sp>
        <p:nvSpPr>
          <p:cNvPr id="9" name="Rounded Rectangle 8"/>
          <p:cNvSpPr/>
          <p:nvPr/>
        </p:nvSpPr>
        <p:spPr>
          <a:xfrm>
            <a:off x="7223760" y="960120"/>
            <a:ext cx="4556455" cy="4983480"/>
          </a:xfrm>
          <a:prstGeom prst="roundRect">
            <a:avLst/>
          </a:prstGeom>
          <a:solidFill>
            <a:srgbClr val="FFFFFF"/>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88352" y="1124712"/>
            <a:ext cx="4227271" cy="4727448"/>
          </a:xfrm>
          <a:prstGeom prst="rect">
            <a:avLst/>
          </a:prstGeom>
          <a:noFill/>
        </p:spPr>
        <p:txBody>
          <a:bodyPr wrap="square">
            <a:spAutoFit/>
          </a:bodyPr>
          <a:lstStyle/>
          <a:p>
            <a:r>
              <a:rPr sz="1300" b="1">
                <a:solidFill>
                  <a:srgbClr val="2563EB"/>
                </a:solidFill>
                <a:latin typeface="Aptos"/>
              </a:rPr>
              <a:t>Decision cues</a:t>
            </a:r>
          </a:p>
          <a:p>
            <a:pPr>
              <a:spcAft>
                <a:spcPts val="600"/>
              </a:spcAft>
            </a:pPr>
            <a:r>
              <a:rPr sz="1800" b="0">
                <a:solidFill>
                  <a:srgbClr val="111827"/>
                </a:solidFill>
                <a:latin typeface="Aptos"/>
              </a:rPr>
              <a:t>Work with individuals - groups - or families to plan or implement programs designed to im…</a:t>
            </a:r>
          </a:p>
          <a:p>
            <a:pPr>
              <a:spcAft>
                <a:spcPts val="600"/>
              </a:spcAft>
            </a:pPr>
            <a:r>
              <a:rPr sz="1800" b="0">
                <a:solidFill>
                  <a:srgbClr val="111827"/>
                </a:solidFill>
                <a:latin typeface="Aptos"/>
              </a:rPr>
              <a:t>includes a recognition phase, a priority decision phase, and an evaluation phase.</a:t>
            </a:r>
          </a:p>
          <a:p>
            <a:pPr>
              <a:spcAft>
                <a:spcPts val="600"/>
              </a:spcAft>
            </a:pPr>
            <a:r>
              <a:rPr sz="1800" b="0">
                <a:solidFill>
                  <a:srgbClr val="111827"/>
                </a:solidFill>
                <a:latin typeface="Aptos"/>
              </a:rPr>
              <a:t>The first safe action should be linked to the highest-risk cue pattern in Work with indiv…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3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
            <a:ext cx="8138160" cy="411480"/>
          </a:xfrm>
          <a:prstGeom prst="rect">
            <a:avLst/>
          </a:prstGeom>
          <a:noFill/>
        </p:spPr>
        <p:txBody>
          <a:bodyPr wrap="none">
            <a:spAutoFit/>
          </a:bodyPr>
          <a:lstStyle/>
          <a:p>
            <a:pPr algn="l"/>
            <a:r>
              <a:rPr sz="2600" b="1">
                <a:solidFill>
                  <a:srgbClr val="FFFFFF"/>
                </a:solidFill>
                <a:latin typeface="Aptos Display"/>
              </a:rPr>
              <a:t>Design public or employee health programs. comparison guide</a:t>
            </a:r>
          </a:p>
        </p:txBody>
      </p:sp>
      <p:sp>
        <p:nvSpPr>
          <p:cNvPr id="4" name="TextBox 3"/>
          <p:cNvSpPr txBox="1"/>
          <p:nvPr/>
        </p:nvSpPr>
        <p:spPr>
          <a:xfrm>
            <a:off x="8686800" y="118872"/>
            <a:ext cx="2926080" cy="320040"/>
          </a:xfrm>
          <a:prstGeom prst="rect">
            <a:avLst/>
          </a:prstGeom>
          <a:noFill/>
        </p:spPr>
        <p:txBody>
          <a:bodyPr wrap="none">
            <a:spAutoFit/>
          </a:bodyPr>
          <a:lstStyle/>
          <a:p>
            <a:pPr algn="r"/>
            <a:r>
              <a:rPr sz="1100" b="0">
                <a:solidFill>
                  <a:srgbClr val="DBEAFE"/>
                </a:solidFill>
                <a:latin typeface="Aptos"/>
              </a:rPr>
              <a:t>Nursing • Professional Practice • Design public or employee health programs.</a:t>
            </a:r>
          </a:p>
        </p:txBody>
      </p:sp>
      <p:sp>
        <p:nvSpPr>
          <p:cNvPr id="5" name="TextBox 4"/>
          <p:cNvSpPr txBox="1"/>
          <p:nvPr/>
        </p:nvSpPr>
        <p:spPr>
          <a:xfrm>
            <a:off x="11384280" y="6355080"/>
            <a:ext cx="411480" cy="201168"/>
          </a:xfrm>
          <a:prstGeom prst="rect">
            <a:avLst/>
          </a:prstGeom>
          <a:noFill/>
        </p:spPr>
        <p:txBody>
          <a:bodyPr wrap="none">
            <a:spAutoFit/>
          </a:bodyPr>
          <a:lstStyle/>
          <a:p>
            <a:pPr algn="r"/>
            <a:r>
              <a:rPr sz="1000" b="1">
                <a:solidFill>
                  <a:srgbClr val="475569"/>
                </a:solidFill>
                <a:latin typeface="Aptos"/>
              </a:rPr>
              <a:t>6</a:t>
            </a:r>
          </a:p>
        </p:txBody>
      </p:sp>
      <p:sp>
        <p:nvSpPr>
          <p:cNvPr id="6" name="Rounded Rectangle 5"/>
          <p:cNvSpPr/>
          <p:nvPr/>
        </p:nvSpPr>
        <p:spPr>
          <a:xfrm>
            <a:off x="411480" y="960120"/>
            <a:ext cx="11368735" cy="4983480"/>
          </a:xfrm>
          <a:prstGeom prst="roundRect">
            <a:avLst/>
          </a:prstGeom>
          <a:solidFill>
            <a:srgbClr val="FFFFFF"/>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143000"/>
          <a:ext cx="11094415" cy="4572000"/>
        </p:xfrm>
        <a:graphic>
          <a:graphicData uri="http://schemas.openxmlformats.org/drawingml/2006/table">
            <a:tbl>
              <a:tblPr firstRow="1" bandRow="1">
                <a:tableStyleId>{5C22544A-7EE6-4342-B048-85BDC9FD1C3A}</a:tableStyleId>
              </a:tblPr>
              <a:tblGrid>
                <a:gridCol w="3698138"/>
                <a:gridCol w="3698138"/>
                <a:gridCol w="3698139"/>
              </a:tblGrid>
              <a:tr h="1524000">
                <a:tc>
                  <a:txBody>
                    <a:bodyPr/>
                    <a:lstStyle/>
                    <a:p>
                      <a:pPr algn="ctr"/>
                      <a:r>
                        <a:rPr sz="1200" b="1">
                          <a:solidFill>
                            <a:srgbClr val="FFFFFF"/>
                          </a:solidFill>
                          <a:latin typeface="Aptos"/>
                        </a:rPr>
                        <a:t>Subtopic</a:t>
                      </a:r>
                    </a:p>
                  </a:txBody>
                  <a:tcPr>
                    <a:solidFill>
                      <a:srgbClr val="16315C"/>
                    </a:solidFill>
                  </a:tcPr>
                </a:tc>
                <a:tc>
                  <a:txBody>
                    <a:bodyPr/>
                    <a:lstStyle/>
                    <a:p>
                      <a:pPr algn="ctr"/>
                      <a:r>
                        <a:rPr sz="1200" b="1">
                          <a:solidFill>
                            <a:srgbClr val="FFFFFF"/>
                          </a:solidFill>
                          <a:latin typeface="Aptos"/>
                        </a:rPr>
                        <a:t>Key cue pattern</a:t>
                      </a:r>
                    </a:p>
                  </a:txBody>
                  <a:tcPr>
                    <a:solidFill>
                      <a:srgbClr val="16315C"/>
                    </a:solidFill>
                  </a:tcPr>
                </a:tc>
                <a:tc>
                  <a:txBody>
                    <a:bodyPr/>
                    <a:lstStyle/>
                    <a:p>
                      <a:pPr algn="ctr"/>
                      <a:r>
                        <a:rPr sz="1200" b="1">
                          <a:solidFill>
                            <a:srgbClr val="FFFFFF"/>
                          </a:solidFill>
                          <a:latin typeface="Aptos"/>
                        </a:rPr>
                        <a:t>First safe action</a:t>
                      </a:r>
                    </a:p>
                  </a:txBody>
                  <a:tcPr>
                    <a:solidFill>
                      <a:srgbClr val="16315C"/>
                    </a:solidFill>
                  </a:tcPr>
                </a:tc>
              </a:tr>
              <a:tr h="1524000">
                <a:tc>
                  <a:txBody>
                    <a:bodyPr/>
                    <a:lstStyle/>
                    <a:p>
                      <a:r>
                        <a:rPr sz="1200" b="0">
                          <a:solidFill>
                            <a:srgbClr val="111827"/>
                          </a:solidFill>
                          <a:latin typeface="Aptos"/>
                        </a:rPr>
                        <a:t>Instruct individuals - families - or other groups on topics such as health education - disease prevention - or childbirth and develop health improvement programs.</a:t>
                      </a:r>
                    </a:p>
                  </a:txBody>
                  <a:tcPr>
                    <a:solidFill>
                      <a:srgbClr val="FFFFFF"/>
                    </a:solidFill>
                  </a:tcPr>
                </a:tc>
                <a:tc>
                  <a:txBody>
                    <a:bodyPr/>
                    <a:lstStyle/>
                    <a:p>
                      <a:r>
                        <a:rPr sz="1200" b="0">
                          <a:solidFill>
                            <a:srgbClr val="111827"/>
                          </a:solidFill>
                          <a:latin typeface="Aptos"/>
                        </a:rPr>
                        <a:t>Instruct individuals - families - or other groups on topics such as health education - di…</a:t>
                      </a:r>
                    </a:p>
                  </a:txBody>
                  <a:tcPr>
                    <a:solidFill>
                      <a:srgbClr val="FFFFFF"/>
                    </a:solidFill>
                  </a:tcPr>
                </a:tc>
                <a:tc>
                  <a:txBody>
                    <a:bodyPr/>
                    <a:lstStyle/>
                    <a:p>
                      <a:r>
                        <a:rPr sz="1200" b="0">
                          <a:solidFill>
                            <a:srgbClr val="111827"/>
                          </a:solidFill>
                          <a:latin typeface="Aptos"/>
                        </a:rPr>
                        <a:t>Address the highest-risk cue first for Instruct individuals - families - or other groups on topics such as health education - disease prevention - or childbirth and develop health improvement programs..</a:t>
                      </a:r>
                    </a:p>
                  </a:txBody>
                  <a:tcPr>
                    <a:solidFill>
                      <a:srgbClr val="FFFFFF"/>
                    </a:solidFill>
                  </a:tcPr>
                </a:tc>
              </a:tr>
              <a:tr h="1524000">
                <a:tc>
                  <a:txBody>
                    <a:bodyPr/>
                    <a:lstStyle/>
                    <a:p>
                      <a:r>
                        <a:rPr sz="1200" b="0">
                          <a:solidFill>
                            <a:srgbClr val="111827"/>
                          </a:solidFill>
                          <a:latin typeface="Aptos"/>
                        </a:rPr>
                        <a:t>Work with individuals - groups - or families to plan or implement programs designed to improve the overall health of communities.</a:t>
                      </a:r>
                    </a:p>
                  </a:txBody>
                  <a:tcPr>
                    <a:solidFill>
                      <a:srgbClr val="F1F5F9"/>
                    </a:solidFill>
                  </a:tcPr>
                </a:tc>
                <a:tc>
                  <a:txBody>
                    <a:bodyPr/>
                    <a:lstStyle/>
                    <a:p>
                      <a:r>
                        <a:rPr sz="1200" b="0">
                          <a:solidFill>
                            <a:srgbClr val="111827"/>
                          </a:solidFill>
                          <a:latin typeface="Aptos"/>
                        </a:rPr>
                        <a:t>Work with individuals - groups - or families to plan or implement programs designed to im…</a:t>
                      </a:r>
                    </a:p>
                  </a:txBody>
                  <a:tcPr>
                    <a:solidFill>
                      <a:srgbClr val="F1F5F9"/>
                    </a:solidFill>
                  </a:tcPr>
                </a:tc>
                <a:tc>
                  <a:txBody>
                    <a:bodyPr/>
                    <a:lstStyle/>
                    <a:p>
                      <a:r>
                        <a:rPr sz="1200" b="0">
                          <a:solidFill>
                            <a:srgbClr val="111827"/>
                          </a:solidFill>
                          <a:latin typeface="Aptos"/>
                        </a:rPr>
                        <a:t>Address the highest-risk cue first for Work with individuals - groups - or families to plan or implement programs designed to improve the overall health of communities..</a:t>
                      </a:r>
                    </a:p>
                  </a:txBody>
                  <a:tcPr>
                    <a:solidFill>
                      <a:srgbClr val="F1F5F9"/>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58368"/>
          </a:xfrm>
          <a:prstGeom prst="rect">
            <a:avLst/>
          </a:prstGeom>
          <a:solidFill>
            <a:srgbClr val="163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
            <a:ext cx="8138160" cy="411480"/>
          </a:xfrm>
          <a:prstGeom prst="rect">
            <a:avLst/>
          </a:prstGeom>
          <a:noFill/>
        </p:spPr>
        <p:txBody>
          <a:bodyPr wrap="none">
            <a:spAutoFit/>
          </a:bodyPr>
          <a:lstStyle/>
          <a:p>
            <a:pPr algn="l"/>
            <a:r>
              <a:rPr sz="2600" b="1">
                <a:solidFill>
                  <a:srgbClr val="FFFFFF"/>
                </a:solidFill>
                <a:latin typeface="Aptos Display"/>
              </a:rPr>
              <a:t>Design public or employee health programs. summary and remediation</a:t>
            </a:r>
          </a:p>
        </p:txBody>
      </p:sp>
      <p:sp>
        <p:nvSpPr>
          <p:cNvPr id="4" name="TextBox 3"/>
          <p:cNvSpPr txBox="1"/>
          <p:nvPr/>
        </p:nvSpPr>
        <p:spPr>
          <a:xfrm>
            <a:off x="8686800" y="118872"/>
            <a:ext cx="2926080" cy="320040"/>
          </a:xfrm>
          <a:prstGeom prst="rect">
            <a:avLst/>
          </a:prstGeom>
          <a:noFill/>
        </p:spPr>
        <p:txBody>
          <a:bodyPr wrap="none">
            <a:spAutoFit/>
          </a:bodyPr>
          <a:lstStyle/>
          <a:p>
            <a:pPr algn="r"/>
            <a:r>
              <a:rPr sz="1100" b="0">
                <a:solidFill>
                  <a:srgbClr val="DBEAFE"/>
                </a:solidFill>
                <a:latin typeface="Aptos"/>
              </a:rPr>
              <a:t>Nursing • Professional Practice • Design public or employee health programs.</a:t>
            </a:r>
          </a:p>
        </p:txBody>
      </p:sp>
      <p:sp>
        <p:nvSpPr>
          <p:cNvPr id="5" name="TextBox 4"/>
          <p:cNvSpPr txBox="1"/>
          <p:nvPr/>
        </p:nvSpPr>
        <p:spPr>
          <a:xfrm>
            <a:off x="11384280" y="6355080"/>
            <a:ext cx="411480" cy="201168"/>
          </a:xfrm>
          <a:prstGeom prst="rect">
            <a:avLst/>
          </a:prstGeom>
          <a:noFill/>
        </p:spPr>
        <p:txBody>
          <a:bodyPr wrap="none">
            <a:spAutoFit/>
          </a:bodyPr>
          <a:lstStyle/>
          <a:p>
            <a:pPr algn="r"/>
            <a:r>
              <a:rPr sz="1000" b="1">
                <a:solidFill>
                  <a:srgbClr val="475569"/>
                </a:solidFill>
                <a:latin typeface="Aptos"/>
              </a:rPr>
              <a:t>7</a:t>
            </a:r>
          </a:p>
        </p:txBody>
      </p:sp>
      <p:sp>
        <p:nvSpPr>
          <p:cNvPr id="6" name="Rounded Rectangle 5"/>
          <p:cNvSpPr/>
          <p:nvPr/>
        </p:nvSpPr>
        <p:spPr>
          <a:xfrm>
            <a:off x="411480" y="960120"/>
            <a:ext cx="3840480" cy="4983480"/>
          </a:xfrm>
          <a:prstGeom prst="roundRect">
            <a:avLst/>
          </a:prstGeom>
          <a:solidFill>
            <a:srgbClr val="F1F5F9"/>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1161288"/>
            <a:ext cx="3438144" cy="4572000"/>
          </a:xfrm>
          <a:prstGeom prst="rect">
            <a:avLst/>
          </a:prstGeom>
          <a:noFill/>
        </p:spPr>
        <p:txBody>
          <a:bodyPr wrap="none">
            <a:spAutoFit/>
          </a:bodyPr>
          <a:lstStyle/>
          <a:p>
            <a:r>
              <a:rPr sz="1500" b="1">
                <a:solidFill>
                  <a:srgbClr val="2563EB"/>
                </a:solidFill>
                <a:latin typeface="Aptos"/>
              </a:rPr>
              <a:t>State the review and remediation steps for Design public or employee health programs..</a:t>
            </a:r>
          </a:p>
          <a:p>
            <a:pPr>
              <a:spcBef>
                <a:spcPts val="1200"/>
              </a:spcBef>
            </a:pPr>
            <a:r>
              <a:rPr sz="2000" b="0">
                <a:solidFill>
                  <a:srgbClr val="111827"/>
                </a:solidFill>
                <a:latin typeface="Aptos"/>
              </a:rPr>
              <a:t>Close the lesson and direct the learner to the next practice step.</a:t>
            </a:r>
          </a:p>
          <a:p>
            <a:pPr>
              <a:spcBef>
                <a:spcPts val="1800"/>
              </a:spcBef>
            </a:pPr>
            <a:r>
              <a:rPr sz="1200" b="0">
                <a:solidFill>
                  <a:srgbClr val="475569"/>
                </a:solidFill>
                <a:latin typeface="Aptos"/>
              </a:rPr>
              <a:t>Use the right panel as the learner-facing summary. Keep narration in the script, not on the slide.</a:t>
            </a:r>
          </a:p>
        </p:txBody>
      </p:sp>
      <p:sp>
        <p:nvSpPr>
          <p:cNvPr id="8" name="Rounded Rectangle 7"/>
          <p:cNvSpPr/>
          <p:nvPr/>
        </p:nvSpPr>
        <p:spPr>
          <a:xfrm>
            <a:off x="4480560" y="960120"/>
            <a:ext cx="7299655" cy="4983480"/>
          </a:xfrm>
          <a:prstGeom prst="roundRect">
            <a:avLst/>
          </a:prstGeom>
          <a:solidFill>
            <a:srgbClr val="FFFFFF"/>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45152" y="1124712"/>
            <a:ext cx="6970471" cy="4727448"/>
          </a:xfrm>
          <a:prstGeom prst="rect">
            <a:avLst/>
          </a:prstGeom>
          <a:noFill/>
        </p:spPr>
        <p:txBody>
          <a:bodyPr wrap="square">
            <a:spAutoFit/>
          </a:bodyPr>
          <a:lstStyle/>
          <a:p>
            <a:r>
              <a:rPr sz="1300" b="1">
                <a:solidFill>
                  <a:srgbClr val="2563EB"/>
                </a:solidFill>
                <a:latin typeface="Aptos"/>
              </a:rPr>
              <a:t>Key points</a:t>
            </a:r>
          </a:p>
          <a:p>
            <a:pPr>
              <a:spcAft>
                <a:spcPts val="600"/>
              </a:spcAft>
            </a:pPr>
            <a:r>
              <a:rPr sz="2000" b="0">
                <a:solidFill>
                  <a:srgbClr val="111827"/>
                </a:solidFill>
                <a:latin typeface="Aptos"/>
              </a:rPr>
              <a:t>Review high-risk cues for: Instruct individuals - families - or other groups on topics su…</a:t>
            </a:r>
          </a:p>
          <a:p>
            <a:pPr>
              <a:spcAft>
                <a:spcPts val="600"/>
              </a:spcAft>
            </a:pPr>
            <a:r>
              <a:rPr sz="2000" b="0">
                <a:solidFill>
                  <a:srgbClr val="111827"/>
                </a:solidFill>
                <a:latin typeface="Aptos"/>
              </a:rPr>
              <a:t>Rehearse one case before moving into assessment or question-bank work.</a:t>
            </a:r>
          </a:p>
          <a:p>
            <a:pPr>
              <a:spcAft>
                <a:spcPts val="600"/>
              </a:spcAft>
            </a:pPr>
            <a:r>
              <a:rPr sz="2000" b="0">
                <a:solidFill>
                  <a:srgbClr val="111827"/>
                </a:solidFill>
                <a:latin typeface="Aptos"/>
              </a:rPr>
              <a:t>Use the objective table to confirm lesson-to-assessment alignment.</a:t>
            </a:r>
          </a:p>
          <a:p>
            <a:pPr>
              <a:spcAft>
                <a:spcPts val="600"/>
              </a:spcAft>
            </a:pPr>
            <a:r>
              <a:rPr sz="2000" b="0">
                <a:solidFill>
                  <a:srgbClr val="111827"/>
                </a:solidFill>
                <a:latin typeface="Aptos"/>
              </a:rPr>
              <a:t>Follow the remediation map for weak areas and repeat the decision cycle.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